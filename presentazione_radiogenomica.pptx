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000000"/>
                </a:solidFill>
                <a:latin typeface="Arial"/>
              </a:defRPr>
            </a:pPr>
            <a:r>
              <a:rPr b="0" sz="1300" spc="-1" strike="noStrike">
                <a:solidFill>
                  <a:srgbClr val="000000"/>
                </a:solidFill>
                <a:latin typeface="Arial"/>
              </a:rPr>
              <a:t>AUC media ± sd (5 fold esterni × 10 seed)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AUC media (nested CV)</c:v>
                </c:pt>
              </c:strCache>
            </c:strRef>
          </c:tx>
          <c:spPr>
            <a:solidFill>
              <a:srgbClr val="0c7b93"/>
            </a:solidFill>
            <a:ln w="0">
              <a:noFill/>
            </a:ln>
          </c:spPr>
          <c:invertIfNegative val="0"/>
          <c:dLbls>
            <c:numFmt formatCode="0.00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14285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Elastic Net</c:v>
                </c:pt>
                <c:pt idx="1">
                  <c:v>Random Forest</c:v>
                </c:pt>
                <c:pt idx="2">
                  <c:v>SVM lineare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0.929</c:v>
                </c:pt>
                <c:pt idx="1">
                  <c:v>0.901</c:v>
                </c:pt>
                <c:pt idx="2">
                  <c:v>0.781</c:v>
                </c:pt>
              </c:numCache>
            </c:numRef>
          </c:val>
        </c:ser>
        <c:gapWidth val="150"/>
        <c:overlap val="0"/>
        <c:axId val="10316369"/>
        <c:axId val="28028865"/>
      </c:barChart>
      <c:catAx>
        <c:axId val="1031636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b6472"/>
                </a:solidFill>
                <a:latin typeface="Arial"/>
              </a:defRPr>
            </a:pPr>
          </a:p>
        </c:txPr>
        <c:crossAx val="28028865"/>
        <c:crosses val="autoZero"/>
        <c:auto val="1"/>
        <c:lblAlgn val="ctr"/>
        <c:lblOffset val="100"/>
        <c:noMultiLvlLbl val="0"/>
      </c:catAx>
      <c:valAx>
        <c:axId val="28028865"/>
        <c:scaling>
          <c:orientation val="minMax"/>
          <c:max val="1.05"/>
          <c:min val="0"/>
        </c:scaling>
        <c:delete val="0"/>
        <c:axPos val="l"/>
        <c:majorGridlines>
          <c:spPr>
            <a:ln w="12600">
              <a:solidFill>
                <a:srgbClr val="e2e6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b6472"/>
                </a:solidFill>
                <a:latin typeface="Arial"/>
              </a:defRPr>
            </a:pPr>
          </a:p>
        </c:txPr>
        <c:crossAx val="1031636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000000"/>
                </a:solidFill>
                <a:latin typeface="Arial"/>
              </a:defRPr>
            </a:pPr>
            <a:r>
              <a:rPr b="0" sz="1300" spc="-1" strike="noStrike">
                <a:solidFill>
                  <a:srgbClr val="000000"/>
                </a:solidFill>
                <a:latin typeface="Arial"/>
              </a:rPr>
              <a:t>AUC (DeLong) — genomics vs both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Genomics</c:v>
                </c:pt>
              </c:strCache>
            </c:strRef>
          </c:tx>
          <c:spPr>
            <a:solidFill>
              <a:srgbClr val="27496d"/>
            </a:solidFill>
            <a:ln w="0">
              <a:noFill/>
            </a:ln>
          </c:spPr>
          <c:invertIfNegative val="0"/>
          <c:dLbls>
            <c:numFmt formatCode="0.00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4285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Elastic Net</c:v>
                </c:pt>
                <c:pt idx="1">
                  <c:v>Random Forest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0.907</c:v>
                </c:pt>
                <c:pt idx="1">
                  <c:v>0.907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Both (genomica+radiomica)</c:v>
                </c:pt>
              </c:strCache>
            </c:strRef>
          </c:tx>
          <c:spPr>
            <a:solidFill>
              <a:srgbClr val="d98e04"/>
            </a:solidFill>
            <a:ln w="0">
              <a:noFill/>
            </a:ln>
          </c:spPr>
          <c:invertIfNegative val="0"/>
          <c:dLbls>
            <c:numFmt formatCode="0.00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4285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Elastic Net</c:v>
                </c:pt>
                <c:pt idx="1">
                  <c:v>Random Forest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0.877</c:v>
                </c:pt>
                <c:pt idx="1">
                  <c:v>0.9</c:v>
                </c:pt>
              </c:numCache>
            </c:numRef>
          </c:val>
        </c:ser>
        <c:gapWidth val="150"/>
        <c:overlap val="0"/>
        <c:axId val="79167866"/>
        <c:axId val="17856279"/>
      </c:barChart>
      <c:catAx>
        <c:axId val="7916786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b6472"/>
                </a:solidFill>
                <a:latin typeface="Arial"/>
              </a:defRPr>
            </a:pPr>
          </a:p>
        </c:txPr>
        <c:crossAx val="17856279"/>
        <c:crosses val="autoZero"/>
        <c:auto val="1"/>
        <c:lblAlgn val="ctr"/>
        <c:lblOffset val="100"/>
        <c:noMultiLvlLbl val="0"/>
      </c:catAx>
      <c:valAx>
        <c:axId val="17856279"/>
        <c:scaling>
          <c:orientation val="minMax"/>
          <c:max val="1"/>
          <c:min val="0"/>
        </c:scaling>
        <c:delete val="0"/>
        <c:axPos val="l"/>
        <c:majorGridlines>
          <c:spPr>
            <a:ln w="12600">
              <a:solidFill>
                <a:srgbClr val="e2e6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b6472"/>
                </a:solidFill>
                <a:latin typeface="Arial"/>
              </a:defRPr>
            </a:pPr>
          </a:p>
        </c:txPr>
        <c:crossAx val="7916786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000000"/>
                </a:solidFill>
                <a:latin typeface="Arial"/>
              </a:defRPr>
            </a:pPr>
            <a:r>
              <a:rPr b="0" sz="1300" spc="-1" strike="noStrike">
                <a:solidFill>
                  <a:srgbClr val="000000"/>
                </a:solidFill>
                <a:latin typeface="Arial"/>
              </a:rPr>
              <a:t>Top 5 nodi per grado pesato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Grado pesato</c:v>
                </c:pt>
              </c:strCache>
            </c:strRef>
          </c:tx>
          <c:spPr>
            <a:solidFill>
              <a:srgbClr val="0c7b93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4285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gen__TPI1</c:v>
                </c:pt>
                <c:pt idx="1">
                  <c:v>rad__SmallDepLowGrayLvl</c:v>
                </c:pt>
                <c:pt idx="2">
                  <c:v>rad__JointEntropy</c:v>
                </c:pt>
                <c:pt idx="3">
                  <c:v>gen__PKM</c:v>
                </c:pt>
                <c:pt idx="4">
                  <c:v>rad__Kurtosis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10.71</c:v>
                </c:pt>
                <c:pt idx="1">
                  <c:v>9.92</c:v>
                </c:pt>
                <c:pt idx="2">
                  <c:v>9.76</c:v>
                </c:pt>
                <c:pt idx="3">
                  <c:v>9.42</c:v>
                </c:pt>
                <c:pt idx="4">
                  <c:v>8.21</c:v>
                </c:pt>
              </c:numCache>
            </c:numRef>
          </c:val>
        </c:ser>
        <c:gapWidth val="150"/>
        <c:overlap val="0"/>
        <c:axId val="65747534"/>
        <c:axId val="22429026"/>
      </c:barChart>
      <c:catAx>
        <c:axId val="6574753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b6472"/>
                </a:solidFill>
                <a:latin typeface="Arial"/>
              </a:defRPr>
            </a:pPr>
          </a:p>
        </c:txPr>
        <c:crossAx val="22429026"/>
        <c:crosses val="autoZero"/>
        <c:auto val="1"/>
        <c:lblAlgn val="ctr"/>
        <c:lblOffset val="100"/>
        <c:noMultiLvlLbl val="0"/>
      </c:catAx>
      <c:valAx>
        <c:axId val="22429026"/>
        <c:scaling>
          <c:orientation val="minMax"/>
        </c:scaling>
        <c:delete val="0"/>
        <c:axPos val="l"/>
        <c:majorGridlines>
          <c:spPr>
            <a:ln w="12600">
              <a:solidFill>
                <a:srgbClr val="e2e6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b6472"/>
                </a:solidFill>
                <a:latin typeface="Arial"/>
              </a:defRPr>
            </a:pPr>
          </a:p>
        </c:txPr>
        <c:crossAx val="6574753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mov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7C40BA6-44BD-441B-A561-1A955BCF194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53CAC7-425B-4181-A8BA-CFA42719F7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E2A720-A767-4E5A-BDE9-AAB15F27F9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2372CA-7FC1-4069-850C-4E746A181BF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043281-5038-4A2E-8E9B-9F4A8E4E42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E59881-0EAF-409F-9923-FEF85B00B3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3B6F91-E569-4FCF-A717-B87B69073A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A577B6-07BC-4417-9A28-1EF637D17B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C259E6-1B76-4E78-9A17-36D518D6EB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197311-14DC-4702-8726-70CF06C5C4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7E0202-DEE4-4D09-9E0A-F353406CCB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FED7F0-9B6F-4ACF-A222-14FEFD85C3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99A5B0-69C3-4561-A54A-7C6896FCB7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8D0001-7E59-428C-8146-2505B8BCAD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858C07-23ED-4A0F-A0DB-305710310D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28C5E5-4B25-459F-9846-97E746E618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8F177B-B0B1-4D7E-8639-9ED096D954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A7B9B2-F4F2-4F87-A53F-2FEFF74334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F36B19-022A-4065-901B-1F55063E2E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783B6D-D871-4078-8AEA-21D2A8E61A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E2BC00-B9FE-4972-81D6-5F35E31685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958CE3-54DC-4CE6-A004-79DB20D0CE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E87F8B-344A-4C50-8424-E716D580D2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D93C6E-8CBE-4E28-BEA0-2F4321307A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F564F3-ED0C-4814-8B3F-9DE5806847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281D78-50DB-4F97-9486-E712636237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FD9FC9-9061-47B4-8093-AC70B52E17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778240" y="-2011680"/>
            <a:ext cx="5486040" cy="5486040"/>
          </a:xfrm>
          <a:prstGeom prst="ellipse">
            <a:avLst/>
          </a:prstGeom>
          <a:solidFill>
            <a:srgbClr val="27496d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607040" y="3474720"/>
            <a:ext cx="2925720" cy="2925720"/>
          </a:xfrm>
          <a:prstGeom prst="ellipse">
            <a:avLst/>
          </a:prstGeom>
          <a:solidFill>
            <a:srgbClr val="0c7b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645920" y="5120640"/>
            <a:ext cx="3200040" cy="3200040"/>
          </a:xfrm>
          <a:prstGeom prst="ellipse">
            <a:avLst/>
          </a:prstGeom>
          <a:solidFill>
            <a:srgbClr val="0c7b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196596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9fd8e8"/>
                </a:solidFill>
                <a:latin typeface="Calibri"/>
                <a:ea typeface="Calibri"/>
              </a:rPr>
              <a:t>RADIOGENOMICA NEL NSCLC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2377440"/>
            <a:ext cx="103323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Dallo studio statistico preliminare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a Machine Learning e Network Analysis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4343400"/>
            <a:ext cx="9326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9d8e4"/>
                </a:solidFill>
                <a:latin typeface="Calibri"/>
                <a:ea typeface="Calibri"/>
              </a:rPr>
              <a:t>Integrazione di dati radiomici (CT in vivo) e genomici su 54 pazienti ADK/SCC: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9d8e4"/>
                </a:solidFill>
                <a:latin typeface="Calibri"/>
                <a:ea typeface="Calibri"/>
              </a:rPr>
              <a:t>validazione predittiva mirata alle feature e studio della struttura di correlazione a rete.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548640" y="5806440"/>
            <a:ext cx="5120280" cy="502560"/>
          </a:xfrm>
          <a:prstGeom prst="roundRect">
            <a:avLst>
              <a:gd name="adj" fmla="val 50909"/>
            </a:avLst>
          </a:prstGeom>
          <a:solidFill>
            <a:srgbClr val="1f3a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77240" y="580644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d7e4ee"/>
                </a:solidFill>
                <a:latin typeface="Calibri"/>
                <a:ea typeface="Calibri"/>
              </a:rPr>
              <a:t>Andrea Gastaldi · Università di Pavia · Settembre 2026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CONTESTO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Dati ricevuti e consegna del lavoro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48640" y="1554480"/>
            <a:ext cx="594324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a1a1a"/>
                </a:solidFill>
                <a:latin typeface="Calibri"/>
                <a:ea typeface="Calibri"/>
              </a:rPr>
              <a:t>Dataset: feature radiomiche da CT in vivo (107), profilo di espressione genica normalizzato (750 geni), etichetta istologica ADK/SCC.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a1a1a"/>
                </a:solidFill>
                <a:latin typeface="Calibri"/>
                <a:ea typeface="Calibri"/>
              </a:rPr>
              <a:t>54 pazienti allineati tra le due sorgenti dati (27 ADK, 27 SCC — classi bilanciate).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a1a1a"/>
                </a:solidFill>
                <a:latin typeface="Calibri"/>
                <a:ea typeface="Calibri"/>
              </a:rPr>
              <a:t>Consegna: partire da uno studio statistico preliminare già svolto e approfondirlo, integrando i dati radiomici e genomici.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a1a1a"/>
                </a:solidFill>
                <a:latin typeface="Calibri"/>
                <a:ea typeface="Calibri"/>
              </a:rPr>
              <a:t>Approfondimento svolto in due filoni indipendenti e complementari: Machine Learning (predittività ADK/SCC, focus sulle feature più che sulla performance) e Network Analysis (struttura di correlazione tra feature, indipendente dalla label).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7818120" y="1600200"/>
            <a:ext cx="1416960" cy="1234080"/>
          </a:xfrm>
          <a:prstGeom prst="roundRect">
            <a:avLst>
              <a:gd name="adj" fmla="val 5926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7909560" y="1710000"/>
            <a:ext cx="123408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850"/>
                </a:solidFill>
                <a:latin typeface="Cambria"/>
                <a:ea typeface="Cambria"/>
              </a:rPr>
              <a:t>54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7927920" y="2316240"/>
            <a:ext cx="1197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pazienti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allineati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7818120" y="2971800"/>
            <a:ext cx="1416960" cy="1234080"/>
          </a:xfrm>
          <a:prstGeom prst="roundRect">
            <a:avLst>
              <a:gd name="adj" fmla="val 5926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7909560" y="3081600"/>
            <a:ext cx="123408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7496d"/>
                </a:solidFill>
                <a:latin typeface="Cambria"/>
                <a:ea typeface="Cambria"/>
              </a:rPr>
              <a:t>857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7927920" y="3687840"/>
            <a:ext cx="1197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predittori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totali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9372600" y="1600200"/>
            <a:ext cx="1416960" cy="1234080"/>
          </a:xfrm>
          <a:prstGeom prst="roundRect">
            <a:avLst>
              <a:gd name="adj" fmla="val 5926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9464040" y="1710000"/>
            <a:ext cx="123408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c7b93"/>
                </a:solidFill>
                <a:latin typeface="Cambria"/>
                <a:ea typeface="Cambria"/>
              </a:rPr>
              <a:t>107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9482400" y="2316240"/>
            <a:ext cx="1197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feature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radiomiche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9372600" y="2971800"/>
            <a:ext cx="1416960" cy="1234080"/>
          </a:xfrm>
          <a:prstGeom prst="roundRect">
            <a:avLst>
              <a:gd name="adj" fmla="val 5926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9464040" y="3081600"/>
            <a:ext cx="123408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d98e04"/>
                </a:solidFill>
                <a:latin typeface="Cambria"/>
                <a:ea typeface="Cambria"/>
              </a:rPr>
              <a:t>750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9482400" y="3687840"/>
            <a:ext cx="1197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geni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normalizzati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7818120" y="4480560"/>
            <a:ext cx="2971440" cy="1416960"/>
          </a:xfrm>
          <a:prstGeom prst="roundRect">
            <a:avLst>
              <a:gd name="adj" fmla="val 5161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8001000" y="461772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27 ADK  /  27 SCC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8001000" y="507492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9d8e4"/>
                </a:solidFill>
                <a:latin typeface="Calibri"/>
                <a:ea typeface="Calibri"/>
              </a:rPr>
              <a:t>classi perfettamente bilanciate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7496d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-1280160" y="4754880"/>
            <a:ext cx="3291480" cy="3291480"/>
          </a:xfrm>
          <a:prstGeom prst="ellipse">
            <a:avLst/>
          </a:prstGeom>
          <a:solidFill>
            <a:srgbClr val="0c7b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48640" y="196596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d98e04"/>
                </a:solidFill>
                <a:latin typeface="Cambria"/>
                <a:ea typeface="Cambria"/>
              </a:rPr>
              <a:t>00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548640" y="28803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9fd8e8"/>
                </a:solidFill>
                <a:latin typeface="Calibri"/>
                <a:ea typeface="Calibri"/>
              </a:rPr>
              <a:t>PUNTO DI PARTENZA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548640" y="324612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Il lavoro statistico preliminare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548640" y="4434840"/>
            <a:ext cx="9600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e4ee"/>
                </a:solidFill>
                <a:latin typeface="Calibri"/>
                <a:ea typeface="Calibri"/>
              </a:rPr>
              <a:t>Attenzione:  è il materiale ricevuto come base di partenza. Viene richiamata solo per contestualizzare il contributo.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CONTESTUALIZZAZIONE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Cosa conteneva il report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548640" y="1554480"/>
            <a:ext cx="10698120" cy="840960"/>
          </a:xfrm>
          <a:prstGeom prst="roundRect">
            <a:avLst>
              <a:gd name="adj" fmla="val 6522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731520" y="1627560"/>
            <a:ext cx="36572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1. Feature redundancy reduction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4480560" y="1627560"/>
            <a:ext cx="65833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Calibri"/>
              </a:rPr>
              <a:t>Spearman |ρ|&gt;0.9 su CT in vivo/ex vivo/microCT e geni: CT in vivo 93→34 feature.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548640" y="2541960"/>
            <a:ext cx="10698120" cy="840960"/>
          </a:xfrm>
          <a:prstGeom prst="roundRect">
            <a:avLst>
              <a:gd name="adj" fmla="val 6522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731520" y="2615040"/>
            <a:ext cx="36572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2–4. Correlazioni gene↔feature (3 imaging)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4480560" y="2615040"/>
            <a:ext cx="65833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Calibri"/>
              </a:rPr>
              <a:t>Spearman + FDR BH. Scansione completa: mai FDR&lt;0.05 (troppi test).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9"/>
          <p:cNvSpPr/>
          <p:nvPr/>
        </p:nvSpPr>
        <p:spPr>
          <a:xfrm>
            <a:off x="548640" y="3529440"/>
            <a:ext cx="10698120" cy="840960"/>
          </a:xfrm>
          <a:prstGeom prst="roundRect">
            <a:avLst>
              <a:gd name="adj" fmla="val 6522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731520" y="3602880"/>
            <a:ext cx="36572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5. Pathway score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4480560" y="3602880"/>
            <a:ext cx="65833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Calibri"/>
              </a:rPr>
              <a:t>26 pathway sintetizzate in score/paziente: 369 correlazioni FDR-sign. in 8 pathway.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548640" y="4517280"/>
            <a:ext cx="10698120" cy="840960"/>
          </a:xfrm>
          <a:prstGeom prst="roundRect">
            <a:avLst>
              <a:gd name="adj" fmla="val 6522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731520" y="4590360"/>
            <a:ext cx="36572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6. Analisi per pathway (TME)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4480560" y="4590360"/>
            <a:ext cx="65833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Calibri"/>
              </a:rPr>
              <a:t>Quasi tutto non-sign. dopo FDR; regressione/RF esplorativi su STROMA non robusti (CV R² negativo).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CONTESTUALIZZAZIONE</a:t>
            </a: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	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CT in vivo: il segnale emerge solo prefiltrando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548640" y="1554480"/>
            <a:ext cx="630900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Calibri"/>
              </a:rPr>
              <a:t>Matrice completa 750 geni × 93 feature (69.750 test): miglior FDR = 0.052 → nessuna associazione formalmente significativa.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Calibri"/>
              </a:rPr>
              <a:t>Selezionando i geni più variabili (IQR) il quadro cambia: top 5% IQR → 28 associazioni significative su 3.534 test.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Calibri"/>
              </a:rPr>
              <a:t>Segnale ricorrente e trasversale a quasi tutte le varianti: TPI1, associato a uniformità/energia/entropia GLCM, GLSZM, GLRLM, GLDM.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Calibri"/>
              </a:rPr>
              <a:t>PCA: unico risultato robusto è PC1 radiomica ↔ TPI1 (ρ=−0.541, p adj=0.006).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7589520" y="1600200"/>
            <a:ext cx="4023000" cy="4205880"/>
          </a:xfrm>
          <a:prstGeom prst="roundRect">
            <a:avLst>
              <a:gd name="adj" fmla="val 2273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7818120" y="18288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48" strike="noStrike">
                <a:solidFill>
                  <a:srgbClr val="9fd8e8"/>
                </a:solidFill>
                <a:latin typeface="Calibri"/>
                <a:ea typeface="Calibri"/>
              </a:rPr>
              <a:t>GENE DA TENERE D'OCCHIO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7818120" y="214884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d98e04"/>
                </a:solidFill>
                <a:latin typeface="Cambria"/>
                <a:ea typeface="Cambria"/>
              </a:rPr>
              <a:t>TPI1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7818120" y="3108960"/>
            <a:ext cx="35658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4ee"/>
                </a:solidFill>
                <a:latin typeface="Calibri"/>
                <a:ea typeface="Calibri"/>
              </a:rPr>
              <a:t>Unico segnale che sopravvive in modo ricorrente nelle analisi dirette e nella PCA sulla CT in vivo — ma solo dopo forte prefiltraggio dei geni.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7818120" y="4526280"/>
            <a:ext cx="3565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9fd8e8"/>
                </a:solidFill>
                <a:latin typeface="Calibri"/>
                <a:ea typeface="Calibri"/>
              </a:rPr>
              <a:t>Vedremo più avanti che questo stesso gene riemerge, in modo indipendente, sia nell'analisi ML sia nella network analysis.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DA QUI PARTE IL MIO LAVORO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Perché approfondire: i limiti individuati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548640" y="1691640"/>
            <a:ext cx="3382920" cy="2285640"/>
          </a:xfrm>
          <a:prstGeom prst="roundRect">
            <a:avLst>
              <a:gd name="adj" fmla="val 3200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777240" y="1920240"/>
            <a:ext cx="456840" cy="456840"/>
          </a:xfrm>
          <a:prstGeom prst="ellipse">
            <a:avLst/>
          </a:prstGeom>
          <a:solidFill>
            <a:srgbClr val="0c7b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777240" y="25146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42850"/>
                </a:solidFill>
                <a:latin typeface="Cambria"/>
                <a:ea typeface="Cambria"/>
              </a:rPr>
              <a:t>Potenza statistica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777240" y="297180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Calibri"/>
                <a:ea typeface="Calibri"/>
              </a:rPr>
              <a:t>n=54 e migliaia di test univariati: quasi nulla sopravvive a FDR senza un forte prefiltraggio ad hoc dei geni.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4160520" y="1691640"/>
            <a:ext cx="3382920" cy="2285640"/>
          </a:xfrm>
          <a:prstGeom prst="roundRect">
            <a:avLst>
              <a:gd name="adj" fmla="val 3200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4389120" y="1920240"/>
            <a:ext cx="456840" cy="456840"/>
          </a:xfrm>
          <a:prstGeom prst="ellipse">
            <a:avLst/>
          </a:prstGeom>
          <a:solidFill>
            <a:srgbClr val="0c7b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4389120" y="25146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42850"/>
                </a:solidFill>
                <a:latin typeface="Cambria"/>
                <a:ea typeface="Cambria"/>
              </a:rPr>
              <a:t>Nessun framework predittivo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4389120" y="297180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Calibri"/>
                <a:ea typeface="Calibri"/>
              </a:rPr>
              <a:t>Le correlazioni dirette non dicono se le feature, insieme, permettano di predire il fenotipo in modo robusto (nested CV, controllo overfitting).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7772400" y="1691640"/>
            <a:ext cx="3382920" cy="2285640"/>
          </a:xfrm>
          <a:prstGeom prst="roundRect">
            <a:avLst>
              <a:gd name="adj" fmla="val 3200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2"/>
          <p:cNvSpPr/>
          <p:nvPr/>
        </p:nvSpPr>
        <p:spPr>
          <a:xfrm>
            <a:off x="8001000" y="1920240"/>
            <a:ext cx="456840" cy="456840"/>
          </a:xfrm>
          <a:prstGeom prst="ellipse">
            <a:avLst/>
          </a:prstGeom>
          <a:solidFill>
            <a:srgbClr val="0c7b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8001000" y="25146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42850"/>
                </a:solidFill>
                <a:latin typeface="Cambria"/>
                <a:ea typeface="Cambria"/>
              </a:rPr>
              <a:t>Nessuna vista di sistema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8001000" y="297180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Calibri"/>
                <a:ea typeface="Calibri"/>
              </a:rPr>
              <a:t>Solo confronti a coppie gene↔feature: manca uno sguardo sulla struttura di correlazione complessiva tra radiomica e genomica.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5"/>
          <p:cNvSpPr/>
          <p:nvPr/>
        </p:nvSpPr>
        <p:spPr>
          <a:xfrm>
            <a:off x="548640" y="4251960"/>
            <a:ext cx="10698120" cy="1416960"/>
          </a:xfrm>
          <a:prstGeom prst="roundRect">
            <a:avLst>
              <a:gd name="adj" fmla="val 5161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822960" y="438912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d98e04"/>
                </a:solidFill>
                <a:latin typeface="Calibri"/>
                <a:ea typeface="Calibri"/>
              </a:rPr>
              <a:t>Risposta: due filoni di approfondimento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822960" y="4754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4ee"/>
                </a:solidFill>
                <a:latin typeface="Calibri"/>
                <a:ea typeface="Calibri"/>
              </a:rPr>
              <a:t>(1) Pipeline ML con nested CV, stability selection, SHAP e diagnostica anti-overfitting, per capire quali feature contano davvero e se il segnale è reale.  (2) Network analysis sulle feature stabili, per vedere se radiomica e genomica si organizzano in una struttura di correlazione coerente, oltre la singola coppia gene-feature.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7496d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1"/>
          <p:cNvSpPr/>
          <p:nvPr/>
        </p:nvSpPr>
        <p:spPr>
          <a:xfrm>
            <a:off x="-1280160" y="4754880"/>
            <a:ext cx="3291480" cy="3291480"/>
          </a:xfrm>
          <a:prstGeom prst="ellipse">
            <a:avLst/>
          </a:prstGeom>
          <a:solidFill>
            <a:srgbClr val="0c7b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548640" y="196596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d98e04"/>
                </a:solidFill>
                <a:latin typeface="Cambria"/>
                <a:ea typeface="Cambria"/>
              </a:rPr>
              <a:t>01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548640" y="28803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9fd8e8"/>
                </a:solidFill>
                <a:latin typeface="Calibri"/>
                <a:ea typeface="Calibri"/>
              </a:rPr>
              <a:t>IL MIO CONTRIBUTO — FILONE 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548640" y="324612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Machine Learning sulle feature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548640" y="4434840"/>
            <a:ext cx="9600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e4ee"/>
                </a:solidFill>
                <a:latin typeface="Calibri"/>
                <a:ea typeface="Calibri"/>
              </a:rPr>
              <a:t>Nested cross-validation, stability selection, SHAP e diagnostica anti-overfitting: l'obiettivo non è massimizzare l'AUC, ma capire quali feature contano davvero e se il segnale è reale.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1 · MACHINE 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Struttura della pipeline (run_analysis.py)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548640" y="169164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731520" y="1856160"/>
            <a:ext cx="411120" cy="411120"/>
          </a:xfrm>
          <a:prstGeom prst="ellipse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731520" y="1856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234440" y="181980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Caricamento dati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731520" y="235008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Calibri"/>
                <a:ea typeface="Calibri"/>
              </a:rPr>
              <a:t>radiomics / genomics / both (data_utils.load_data)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4114800" y="169164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4297680" y="1856160"/>
            <a:ext cx="411120" cy="411120"/>
          </a:xfrm>
          <a:prstGeom prst="ellipse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4297680" y="1856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4800600" y="181980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Riduzione feature neutra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4297680" y="235008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Calibri"/>
                <a:ea typeface="Calibri"/>
              </a:rPr>
              <a:t>varianza + ridondanza (Spearman), indipendente dalla label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3"/>
          <p:cNvSpPr/>
          <p:nvPr/>
        </p:nvSpPr>
        <p:spPr>
          <a:xfrm>
            <a:off x="7680960" y="169164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4"/>
          <p:cNvSpPr/>
          <p:nvPr/>
        </p:nvSpPr>
        <p:spPr>
          <a:xfrm>
            <a:off x="7863840" y="1856160"/>
            <a:ext cx="411120" cy="411120"/>
          </a:xfrm>
          <a:prstGeom prst="ellipse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7863840" y="1856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8366760" y="181980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Nested CV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7863840" y="235008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Calibri"/>
                <a:ea typeface="Calibri"/>
              </a:rPr>
              <a:t>5 fold esterni × 5 interni, ripetuta su 10 seed — Elastic Net, Random Forest, SVM lineare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8"/>
          <p:cNvSpPr/>
          <p:nvPr/>
        </p:nvSpPr>
        <p:spPr>
          <a:xfrm>
            <a:off x="548640" y="333756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9"/>
          <p:cNvSpPr/>
          <p:nvPr/>
        </p:nvSpPr>
        <p:spPr>
          <a:xfrm>
            <a:off x="731520" y="3502080"/>
            <a:ext cx="411120" cy="411120"/>
          </a:xfrm>
          <a:prstGeom prst="ellipse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731520" y="35020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1234440" y="346572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Stability selection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2"/>
          <p:cNvSpPr/>
          <p:nvPr/>
        </p:nvSpPr>
        <p:spPr>
          <a:xfrm>
            <a:off x="731520" y="399600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Calibri"/>
                <a:ea typeface="Calibri"/>
              </a:rPr>
              <a:t>200 bootstrap sull'Elastic Net per la frequenza di selezione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3"/>
          <p:cNvSpPr/>
          <p:nvPr/>
        </p:nvSpPr>
        <p:spPr>
          <a:xfrm>
            <a:off x="4114800" y="333756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4"/>
          <p:cNvSpPr/>
          <p:nvPr/>
        </p:nvSpPr>
        <p:spPr>
          <a:xfrm>
            <a:off x="4297680" y="3502080"/>
            <a:ext cx="411120" cy="411120"/>
          </a:xfrm>
          <a:prstGeom prst="ellipse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5"/>
          <p:cNvSpPr/>
          <p:nvPr/>
        </p:nvSpPr>
        <p:spPr>
          <a:xfrm>
            <a:off x="4297680" y="35020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6"/>
          <p:cNvSpPr/>
          <p:nvPr/>
        </p:nvSpPr>
        <p:spPr>
          <a:xfrm>
            <a:off x="4800600" y="346572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SHAP out-of-fold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7"/>
          <p:cNvSpPr/>
          <p:nvPr/>
        </p:nvSpPr>
        <p:spPr>
          <a:xfrm>
            <a:off x="4297680" y="399600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Calibri"/>
                <a:ea typeface="Calibri"/>
              </a:rPr>
              <a:t>sul modello migliore (AUC pooled), per l'importanza delle feature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8"/>
          <p:cNvSpPr/>
          <p:nvPr/>
        </p:nvSpPr>
        <p:spPr>
          <a:xfrm>
            <a:off x="7680960" y="333756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9"/>
          <p:cNvSpPr/>
          <p:nvPr/>
        </p:nvSpPr>
        <p:spPr>
          <a:xfrm>
            <a:off x="7863840" y="3502080"/>
            <a:ext cx="411120" cy="411120"/>
          </a:xfrm>
          <a:prstGeom prst="ellipse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30"/>
          <p:cNvSpPr/>
          <p:nvPr/>
        </p:nvSpPr>
        <p:spPr>
          <a:xfrm>
            <a:off x="7863840" y="35020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31"/>
          <p:cNvSpPr/>
          <p:nvPr/>
        </p:nvSpPr>
        <p:spPr>
          <a:xfrm>
            <a:off x="8366760" y="346572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850"/>
                </a:solidFill>
                <a:latin typeface="Calibri"/>
                <a:ea typeface="Calibri"/>
              </a:rPr>
              <a:t>Diagnostica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2"/>
          <p:cNvSpPr/>
          <p:nvPr/>
        </p:nvSpPr>
        <p:spPr>
          <a:xfrm>
            <a:off x="7863840" y="399600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Calibri"/>
                <a:ea typeface="Calibri"/>
              </a:rPr>
              <a:t>test di permutazione + controllo batch effect (run_diagnostics.py)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1 · MACHINE 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Riduzione neutra delle feature: 857 → 78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5" name="Table 0"/>
          <p:cNvGraphicFramePr/>
          <p:nvPr/>
        </p:nvGraphicFramePr>
        <p:xfrm>
          <a:off x="548640" y="1600200"/>
          <a:ext cx="10698120" cy="2307960"/>
        </p:xfrm>
        <a:graphic>
          <a:graphicData uri="http://schemas.openxmlformats.org/drawingml/2006/table">
            <a:tbl>
              <a:tblPr/>
              <a:tblGrid>
                <a:gridCol w="3840480"/>
                <a:gridCol w="1828800"/>
                <a:gridCol w="1828800"/>
                <a:gridCol w="32004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Blocco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Iniziali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Finali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Metodo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Radiomica — texture/intensità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93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36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varianza + ridondanza (soglia 0.9)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Radiomica — forma (shape)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14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ridotta separatamente (EXCLUDE_SHAPE_FROM_MAIN_REDUCTION)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Genomica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750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37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iqr_top_pct (5%) + ridondanza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857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50" spc="-1" strike="noStrike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6" name="Text 3"/>
          <p:cNvSpPr/>
          <p:nvPr/>
        </p:nvSpPr>
        <p:spPr>
          <a:xfrm>
            <a:off x="548640" y="3977640"/>
            <a:ext cx="621756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95.1% dei geni scartati, 61.7% delle feature radiomiche: coerente con la forte ridondanza già osservata nel lavoro pregresso.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Riduzione fatta PRIMA di guardare la label: nessun rischio di leakage tra questo step e la valutazione predittiva successiva.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7452360" y="3977640"/>
            <a:ext cx="4160160" cy="2422800"/>
          </a:xfrm>
          <a:prstGeom prst="roundRect">
            <a:avLst>
              <a:gd name="adj" fmla="val 3019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5"/>
          <p:cNvSpPr/>
          <p:nvPr/>
        </p:nvSpPr>
        <p:spPr>
          <a:xfrm>
            <a:off x="9212760" y="468648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9413640" y="478692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7726680" y="520740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PLACEHOLDER: dettaglio feature mantenute/scartate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7726680" y="5573160"/>
            <a:ext cx="3611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report_feature_ridotte.txt (notebook analizza_preprocessing) — X_features.csv vs X_reduced_features.csv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1 · MACHINE 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Nested CV: confronto tra modelli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5" name="Chart 0"/>
          <p:cNvGraphicFramePr/>
          <p:nvPr/>
        </p:nvGraphicFramePr>
        <p:xfrm>
          <a:off x="548640" y="1554480"/>
          <a:ext cx="612612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6" name="Table 0"/>
          <p:cNvGraphicFramePr/>
          <p:nvPr/>
        </p:nvGraphicFramePr>
        <p:xfrm>
          <a:off x="6537960" y="1737360"/>
          <a:ext cx="5074560" cy="1535760"/>
        </p:xfrm>
        <a:graphic>
          <a:graphicData uri="http://schemas.openxmlformats.org/drawingml/2006/table">
            <a:tbl>
              <a:tblPr/>
              <a:tblGrid>
                <a:gridCol w="1691640"/>
                <a:gridCol w="1188720"/>
                <a:gridCol w="1188720"/>
                <a:gridCol w="100584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Modello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AUC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Bal. Acc.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F1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Elastic Net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0.929 ± 0.094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0.890 ± 0.087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0.887 ± 0.089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Random Forest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0.901 ± 0.069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0.873 ± 0.070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0.869 ± 0.071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SVM lineare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0.781 ± 0.213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0.753 ± 0.140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7" name="Text 3"/>
          <p:cNvSpPr/>
          <p:nvPr/>
        </p:nvSpPr>
        <p:spPr>
          <a:xfrm>
            <a:off x="6537960" y="3703320"/>
            <a:ext cx="507456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Elastic Net leggermente in testa, ma tutti e tre i modelli separano bene le classi.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Confronto ripetuto anche su AUC pooled out-of-fold (fold-level vs pooled OOF) per un confronto più robusto.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6537960" y="4892040"/>
            <a:ext cx="5074560" cy="1279800"/>
          </a:xfrm>
          <a:prstGeom prst="roundRect">
            <a:avLst>
              <a:gd name="adj" fmla="val 5714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8755560" y="502920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8956440" y="512964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6812280" y="555048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PLACEHOLDER: pooled_oof_model_comparison.csv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1 · MACHINE 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Diagnostica: il modello sta indovinando per caso?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548640" y="1600200"/>
            <a:ext cx="2651400" cy="137124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640080" y="1710000"/>
            <a:ext cx="24685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850"/>
                </a:solidFill>
                <a:latin typeface="Cambria"/>
                <a:ea typeface="Cambria"/>
              </a:rPr>
              <a:t>0.901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658440" y="2395800"/>
            <a:ext cx="2431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AUC — dati veri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(random forest)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3383280" y="1600200"/>
            <a:ext cx="2651400" cy="137124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3474720" y="1710000"/>
            <a:ext cx="24685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5b6472"/>
                </a:solidFill>
                <a:latin typeface="Cambria"/>
                <a:ea typeface="Cambria"/>
              </a:rPr>
              <a:t>0.496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3493080" y="2395800"/>
            <a:ext cx="2431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AUC media —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etichette casuali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6217920" y="1600200"/>
            <a:ext cx="2651400" cy="137124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6309360" y="1710000"/>
            <a:ext cx="24685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e7d5b"/>
                </a:solidFill>
                <a:latin typeface="Cambria"/>
                <a:ea typeface="Cambria"/>
              </a:rPr>
              <a:t>p = 0.005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6327720" y="2395800"/>
            <a:ext cx="2431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p-value empirico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(200 permutazioni)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548640" y="3246120"/>
            <a:ext cx="630900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Test di permutazione: rimescolando le etichette 200 volte, l'AUC crolla a 0.496 ± 0.104 — livello del caso.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L'AUC sui dati veri (0.901) è nettamente sopra questa distribuzione nulla → il segnale non è un artefatto casuale.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Controllo batch effect: nessuna colonna di lotto tecnico disponibile (config.BATCH_COL=None) → verificata solo visivamente la separazione per fenotipo su PCA.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3"/>
          <p:cNvSpPr/>
          <p:nvPr/>
        </p:nvSpPr>
        <p:spPr>
          <a:xfrm>
            <a:off x="7589520" y="3246120"/>
            <a:ext cx="4023000" cy="3017160"/>
          </a:xfrm>
          <a:prstGeom prst="roundRect">
            <a:avLst>
              <a:gd name="adj" fmla="val 2424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9281160" y="425196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5"/>
          <p:cNvSpPr/>
          <p:nvPr/>
        </p:nvSpPr>
        <p:spPr>
          <a:xfrm>
            <a:off x="9482400" y="435240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7863840" y="477324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PLACEHOLDER: permutation_test.png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7863840" y="51390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+ batch_effect_pca.png (proiezione PCA colorata per fenotipo)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1 · MACHINE 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La radiomica aggiunge segnale alla genomica?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3" name="Chart 0"/>
          <p:cNvGraphicFramePr/>
          <p:nvPr/>
        </p:nvGraphicFramePr>
        <p:xfrm>
          <a:off x="548640" y="1600200"/>
          <a:ext cx="6034680" cy="374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4" name="Text 3"/>
          <p:cNvSpPr/>
          <p:nvPr/>
        </p:nvSpPr>
        <p:spPr>
          <a:xfrm>
            <a:off x="6400800" y="1645920"/>
            <a:ext cx="521172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DeLong test (esatto, asintotico) + bootstrap appaiato sugli stessi 54 pazienti.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Elastic Net: diff = −0.030, 95% CI [−0.094, +0.033], p = 0.35 → CI include lo 0.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Random Forest: diff = −0.007, 95% CI [−0.054, +0.040], p = 0.77 → CI include lo 0.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6400800" y="3977640"/>
            <a:ext cx="5211720" cy="1051200"/>
          </a:xfrm>
          <a:prstGeom prst="roundRect">
            <a:avLst>
              <a:gd name="adj" fmla="val 6957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6583680" y="4114800"/>
            <a:ext cx="4845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d7e4ee"/>
                </a:solidFill>
                <a:latin typeface="Calibri"/>
                <a:ea typeface="Calibri"/>
              </a:rPr>
              <a:t>Con n=54, nessuna evidenza statistica che aggiungere la radiomica migliori la predittività rispetto alla sola genomica.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6400800" y="5212080"/>
            <a:ext cx="5211720" cy="1051200"/>
          </a:xfrm>
          <a:prstGeom prst="roundRect">
            <a:avLst>
              <a:gd name="adj" fmla="val 6957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7"/>
          <p:cNvSpPr/>
          <p:nvPr/>
        </p:nvSpPr>
        <p:spPr>
          <a:xfrm>
            <a:off x="8686800" y="523512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8"/>
          <p:cNvSpPr/>
          <p:nvPr/>
        </p:nvSpPr>
        <p:spPr>
          <a:xfrm>
            <a:off x="8888040" y="533556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6675120" y="57560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PLACEHOLDER: bootstrap_diff_*.png (compare_data_sources.py)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1 · MACHINE 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Le scelte di preprocessing contano? (Specification curve)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548640" y="1600200"/>
            <a:ext cx="6217560" cy="48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Griglia di specifiche: metodo selezione geni × esclusione feature di forma × soglia ridondanza × modello × sorgente dati.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Ogni combinazione rifà l'intera pipeline (Simonsohn et al. 2020): la curva mostra quanto la performance dipende da scelte arbitrarie di preprocessing.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Test di significatività congiunto: permutazione dell'intera curva su una griglia ridotta (N_PERMUTATIONS_SPEC_CURVE=100) per verificare se il risultato regge nel complesso, non solo nella singola specifica migliore.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Variante appaiata: joint_significance_test_source_comparison generalizza il confronto genomics-vs-both a tutta la griglia (non solo un modello).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7406640" y="1600200"/>
            <a:ext cx="4205880" cy="4663080"/>
          </a:xfrm>
          <a:prstGeom prst="roundRect">
            <a:avLst>
              <a:gd name="adj" fmla="val 1739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5"/>
          <p:cNvSpPr/>
          <p:nvPr/>
        </p:nvSpPr>
        <p:spPr>
          <a:xfrm>
            <a:off x="9189720" y="342900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9390960" y="352944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7680960" y="39502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7680960" y="431604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specification_curve.png · feature_votes_{model_type}.png · joint_significance_test.png · joint_test_source_comparison_genomics_vs_both.png (+ relativi file _summary.txt con p-value)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1 · MACHINE 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Quali feature emergono con più consenso?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548640" y="14173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3 criteri indipendenti: stability selection (bootstrap Elastic Net) · SHAP out-of-fold (miglior modello) · voti della specification curve.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4" name="Table 0"/>
          <p:cNvGraphicFramePr/>
          <p:nvPr/>
        </p:nvGraphicFramePr>
        <p:xfrm>
          <a:off x="548640" y="1920240"/>
          <a:ext cx="6309000" cy="3785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18872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Feature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Consensus score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Criteri su 3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gen__NECTIN1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1.000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gen__CD44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0.981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gen__S100A8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0.976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gen__HIF1A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0.970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gen__EPCAM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0.954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gen__COL17A1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0.951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d98e04"/>
                          </a:solidFill>
                          <a:latin typeface="Calibri"/>
                          <a:ea typeface="Calibri"/>
                        </a:rPr>
                        <a:t>gen__TPI1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0.777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rad__glszm_SizeZoneNonUniformity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0.759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6eb"/>
                      </a:solidFill>
                      <a:prstDash val="solid"/>
                    </a:lnL>
                    <a:lnR w="12240">
                      <a:solidFill>
                        <a:srgbClr val="e2e6eb"/>
                      </a:solidFill>
                      <a:prstDash val="solid"/>
                    </a:lnR>
                    <a:lnT w="12240">
                      <a:solidFill>
                        <a:srgbClr val="e2e6eb"/>
                      </a:solidFill>
                      <a:prstDash val="solid"/>
                    </a:lnT>
                    <a:lnB w="12240">
                      <a:solidFill>
                        <a:srgbClr val="e2e6e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5" name="Shape 4"/>
          <p:cNvSpPr/>
          <p:nvPr/>
        </p:nvSpPr>
        <p:spPr>
          <a:xfrm>
            <a:off x="7452360" y="1920240"/>
            <a:ext cx="4160160" cy="3931560"/>
          </a:xfrm>
          <a:prstGeom prst="roundRect">
            <a:avLst>
              <a:gd name="adj" fmla="val 1860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5"/>
          <p:cNvSpPr/>
          <p:nvPr/>
        </p:nvSpPr>
        <p:spPr>
          <a:xfrm>
            <a:off x="9212760" y="338328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9413640" y="348372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7726680" y="390456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7726680" y="4270320"/>
            <a:ext cx="3611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shap_bar_random_forest.png · shap_summary_random_forest.png · shap_dependence_&lt;top3&gt;.png · feature_votes_tree.png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1 · MACHINE 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Quanto è robusto questo consenso? (test max-statistic)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548640" y="1600200"/>
            <a:ext cx="6309000" cy="48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consensus_significance.py rigira l'INTERA pipeline (200 bootstrap stability + SHAP out-of-fold + intera specification curve) su etichette permutate, 50 volte.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Si confronta il consensus_score più alto osservato con la distribuzione nulla del massimo per caso (Westfall-Young) — controllo più severo del semplice ranking.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Nei log: sotto permutazione il modello spesso 'collassa' (0-1 feature stabili su 8, molte specifiche con nessuna feature selezionata) — coerente con un segnale reale che sparisce quando la label è casuale.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Limite dichiarato: con 50 permutazioni il p-value minimo raggiungibile è ~0.02 → è un controllo di plausibilità, non un test ad alta risoluzione.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7406640" y="1600200"/>
            <a:ext cx="4205880" cy="4663080"/>
          </a:xfrm>
          <a:prstGeom prst="roundRect">
            <a:avLst>
              <a:gd name="adj" fmla="val 1739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9189720" y="342900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9390960" y="352944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7680960" y="39502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7680960" y="431604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output grafico/tabellare di consensus_significance.py: distribuzione nulla del consensus_score massimo + p-value finale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7496d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-1280160" y="4754880"/>
            <a:ext cx="3291480" cy="3291480"/>
          </a:xfrm>
          <a:prstGeom prst="ellipse">
            <a:avLst/>
          </a:prstGeom>
          <a:solidFill>
            <a:srgbClr val="0c7b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548640" y="196596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d98e04"/>
                </a:solidFill>
                <a:latin typeface="Cambria"/>
                <a:ea typeface="Cambria"/>
              </a:rPr>
              <a:t>02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548640" y="28803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9fd8e8"/>
                </a:solidFill>
                <a:latin typeface="Calibri"/>
                <a:ea typeface="Calibri"/>
              </a:rPr>
              <a:t>IL MIO CONTRIBUTO — FILONE B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548640" y="324612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Network Analysis sulle feature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548640" y="4434840"/>
            <a:ext cx="9600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e4ee"/>
                </a:solidFill>
                <a:latin typeface="Calibri"/>
                <a:ea typeface="Calibri"/>
              </a:rPr>
              <a:t>Domanda diversa dal filone ML: non "predicono il fenotipo?" ma "le feature radiomiche e geniche stabili si organizzano in una struttura di correlazione coerente?" — rad-rad, gen-gen, rad-gen.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2 · NETWORK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Costruzione del grafo sulle feature stabili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548640" y="1600200"/>
            <a:ext cx="6309000" cy="48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Input: feature con consensus n_criteria_present ≥ 2 (soglia RADIOGENOMICS_MIN_CRITERIA) → 20 feature radiomiche + 15 geni stabili (su 113 totali).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Nodi = feature; archi = correlazioni di Spearman significative dopo correzione FDR, calcolate su tre blocchi: rad-rad, gen-gen, rad-gen.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Due modalità di correzione multipla confrontate: 'unified' (un'unica FDR su tutte le 595 coppie) vs 'separate' (una FDR per blocco).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Risultato (unified): 215/595 coppie significative → grafo con 35 nodi, densità 0.361.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7589520" y="1645920"/>
            <a:ext cx="1919880" cy="1234080"/>
          </a:xfrm>
          <a:prstGeom prst="roundRect">
            <a:avLst>
              <a:gd name="adj" fmla="val 5926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680960" y="1755720"/>
            <a:ext cx="173700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850"/>
                </a:solidFill>
                <a:latin typeface="Cambria"/>
                <a:ea typeface="Cambria"/>
              </a:rPr>
              <a:t>35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7699320" y="236196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nodi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9601200" y="1645920"/>
            <a:ext cx="1919880" cy="1234080"/>
          </a:xfrm>
          <a:prstGeom prst="roundRect">
            <a:avLst>
              <a:gd name="adj" fmla="val 5926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9692640" y="1755720"/>
            <a:ext cx="173700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7496d"/>
                </a:solidFill>
                <a:latin typeface="Cambria"/>
                <a:ea typeface="Cambria"/>
              </a:rPr>
              <a:t>215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9711000" y="236196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archi (q&lt;0.05)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7589520" y="3017520"/>
            <a:ext cx="1919880" cy="1234080"/>
          </a:xfrm>
          <a:prstGeom prst="roundRect">
            <a:avLst>
              <a:gd name="adj" fmla="val 5926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7680960" y="3127320"/>
            <a:ext cx="173700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c7b93"/>
                </a:solidFill>
                <a:latin typeface="Cambria"/>
                <a:ea typeface="Cambria"/>
              </a:rPr>
              <a:t>0.361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7699320" y="373356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densità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3"/>
          <p:cNvSpPr/>
          <p:nvPr/>
        </p:nvSpPr>
        <p:spPr>
          <a:xfrm>
            <a:off x="9601200" y="3017520"/>
            <a:ext cx="1919880" cy="1234080"/>
          </a:xfrm>
          <a:prstGeom prst="roundRect">
            <a:avLst>
              <a:gd name="adj" fmla="val 5926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9692640" y="3127320"/>
            <a:ext cx="173700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d98e04"/>
                </a:solidFill>
                <a:latin typeface="Cambria"/>
                <a:ea typeface="Cambria"/>
              </a:rPr>
              <a:t>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9711000" y="373356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community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7589520" y="4434840"/>
            <a:ext cx="3931560" cy="18284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7"/>
          <p:cNvSpPr/>
          <p:nvPr/>
        </p:nvSpPr>
        <p:spPr>
          <a:xfrm>
            <a:off x="9235440" y="484632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9436680" y="494676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7863840" y="536760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PLACEHOLDER: network_plot.png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7863840" y="573336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unified, feature_set='stable'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2 · NETWORK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Hub principali e organizzazione in community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9" name="Chart 0"/>
          <p:cNvGraphicFramePr/>
          <p:nvPr/>
        </p:nvGraphicFramePr>
        <p:xfrm>
          <a:off x="548640" y="1600200"/>
          <a:ext cx="612612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0" name="Text 3"/>
          <p:cNvSpPr/>
          <p:nvPr/>
        </p:nvSpPr>
        <p:spPr>
          <a:xfrm>
            <a:off x="6400800" y="1645920"/>
            <a:ext cx="512028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gen__TPI1 è l'hub principale della rete — stesso gene già segnalato nel lavoro pregresso e nel consensus ML.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3 community individuate (modularità greedy).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Domain assortativity (radiomica vs genomica) = 0.662 → i due domini formano community internamente coerenti, non mescolate casualmente.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6400800" y="4023360"/>
            <a:ext cx="5120280" cy="2377080"/>
          </a:xfrm>
          <a:prstGeom prst="roundRect">
            <a:avLst>
              <a:gd name="adj" fmla="val 3077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5"/>
          <p:cNvSpPr/>
          <p:nvPr/>
        </p:nvSpPr>
        <p:spPr>
          <a:xfrm>
            <a:off x="8641080" y="470916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6"/>
          <p:cNvSpPr/>
          <p:nvPr/>
        </p:nvSpPr>
        <p:spPr>
          <a:xfrm>
            <a:off x="8842320" y="480960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7"/>
          <p:cNvSpPr/>
          <p:nvPr/>
        </p:nvSpPr>
        <p:spPr>
          <a:xfrm>
            <a:off x="6675120" y="52304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PLACEHOLDER: network_plot.png colorato per community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2 · NETWORK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La struttura a community è reale o casuale?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548640" y="1645920"/>
            <a:ext cx="2468520" cy="137124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640080" y="1755720"/>
            <a:ext cx="22856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850"/>
                </a:solidFill>
                <a:latin typeface="Cambria"/>
                <a:ea typeface="Cambria"/>
              </a:rPr>
              <a:t>0.386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658440" y="2441520"/>
            <a:ext cx="224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modularità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osservata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3200400" y="1645920"/>
            <a:ext cx="2468520" cy="137124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3291840" y="1755720"/>
            <a:ext cx="22856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5b6472"/>
                </a:solidFill>
                <a:latin typeface="Cambria"/>
                <a:ea typeface="Cambria"/>
              </a:rPr>
              <a:t>0.150 ± 0.011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3310200" y="2441520"/>
            <a:ext cx="224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modularità nulla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(500 grafi Erdős–Rényi)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5852160" y="1645920"/>
            <a:ext cx="2468520" cy="137124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5943600" y="1755720"/>
            <a:ext cx="22856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e7d5b"/>
                </a:solidFill>
                <a:latin typeface="Cambria"/>
                <a:ea typeface="Cambria"/>
              </a:rPr>
              <a:t>p = 0.002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5961960" y="2441520"/>
            <a:ext cx="224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0/500 grafi nulli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superano l'osservato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548640" y="3291840"/>
            <a:ext cx="63090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a1a1a"/>
                </a:solidFill>
                <a:latin typeface="Calibri"/>
                <a:ea typeface="Calibri"/>
              </a:rPr>
              <a:t>Confronto con 500 grafi Erdős–Rényi random a parità di nodi/archi ma senza struttura né pesi.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a1a1a"/>
                </a:solidFill>
                <a:latin typeface="Calibri"/>
                <a:ea typeface="Calibri"/>
              </a:rPr>
              <a:t>La modularità osservata è nettamente più alta di quella attesa per caso: la struttura a community non è un artefatto della densità della rete.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7452360" y="3291840"/>
            <a:ext cx="4160160" cy="2971440"/>
          </a:xfrm>
          <a:prstGeom prst="roundRect">
            <a:avLst>
              <a:gd name="adj" fmla="val 2462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9212760" y="427500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9413640" y="437544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7726680" y="479592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PLACEHOLDER: plot_null_model_comparison.png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2 · NETWORK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Quanto sono stabili gli archi trovati?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548640" y="1645920"/>
            <a:ext cx="2468520" cy="127980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640080" y="1755720"/>
            <a:ext cx="2285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850"/>
                </a:solidFill>
                <a:latin typeface="Cambria"/>
                <a:ea typeface="Cambria"/>
              </a:rPr>
              <a:t>0.828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658440" y="2388240"/>
            <a:ext cx="22489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freq. media selezione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(200 bootstrap pazienti)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3200400" y="1645920"/>
            <a:ext cx="2468520" cy="127980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3291840" y="1755720"/>
            <a:ext cx="2285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7496d"/>
                </a:solidFill>
                <a:latin typeface="Cambria"/>
                <a:ea typeface="Cambria"/>
              </a:rPr>
              <a:t>210/215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3310200" y="2388240"/>
            <a:ext cx="22489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archi con freq ≥ 0.5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("stabili")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9"/>
          <p:cNvSpPr/>
          <p:nvPr/>
        </p:nvSpPr>
        <p:spPr>
          <a:xfrm>
            <a:off x="5852160" y="1645920"/>
            <a:ext cx="2468520" cy="127980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5943600" y="1755720"/>
            <a:ext cx="2285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c7b93"/>
                </a:solidFill>
                <a:latin typeface="Cambria"/>
                <a:ea typeface="Cambria"/>
              </a:rPr>
              <a:t>93.7%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1"/>
          <p:cNvSpPr/>
          <p:nvPr/>
        </p:nvSpPr>
        <p:spPr>
          <a:xfrm>
            <a:off x="5961960" y="2388240"/>
            <a:ext cx="22489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archi che resistono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alla rimozione di 1 paziente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2"/>
          <p:cNvSpPr/>
          <p:nvPr/>
        </p:nvSpPr>
        <p:spPr>
          <a:xfrm>
            <a:off x="548640" y="3291840"/>
            <a:ext cx="63090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Bootstrap sui pazienti: ricampiona e ricostruisce il grafo 200 volte → la maggior parte degli archi osservati è confermata in almeno metà dei ricampionamenti.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Jackknife leave-one-out: rimuove un paziente alla volta (54 iterazioni) e misura quanti archi "si rompono".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Pazienti più critici: #28 (32 archi rotti, 14.9%), #5 (26, 12.1%), #16 (24, 11.2%) — utile da segnalare come possibili outlier da ispezionare.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3"/>
          <p:cNvSpPr/>
          <p:nvPr/>
        </p:nvSpPr>
        <p:spPr>
          <a:xfrm>
            <a:off x="7452360" y="3291840"/>
            <a:ext cx="4160160" cy="2971440"/>
          </a:xfrm>
          <a:prstGeom prst="roundRect">
            <a:avLst>
              <a:gd name="adj" fmla="val 2462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4"/>
          <p:cNvSpPr/>
          <p:nvPr/>
        </p:nvSpPr>
        <p:spPr>
          <a:xfrm>
            <a:off x="9212760" y="427500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5"/>
          <p:cNvSpPr/>
          <p:nvPr/>
        </p:nvSpPr>
        <p:spPr>
          <a:xfrm>
            <a:off x="9413640" y="437544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6"/>
          <p:cNvSpPr/>
          <p:nvPr/>
        </p:nvSpPr>
        <p:spPr>
          <a:xfrm>
            <a:off x="7726680" y="479592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7"/>
          <p:cNvSpPr/>
          <p:nvPr/>
        </p:nvSpPr>
        <p:spPr>
          <a:xfrm>
            <a:off x="7726680" y="5161680"/>
            <a:ext cx="3611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edge_stability.png · tabella jackknife (top 5 pazienti per archi rotti)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2 · NETWORK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La struttura regge al variare del preprocessing?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3"/>
          <p:cNvSpPr/>
          <p:nvPr/>
        </p:nvSpPr>
        <p:spPr>
          <a:xfrm>
            <a:off x="548640" y="1600200"/>
            <a:ext cx="6309000" cy="48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Metrica: modularity z-score vs modello nullo (non conteggi grezzi di nodi/archi, non comparabili tra specifiche di dimensione diversa).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12 combinazioni: metodo selezione geni × soglia ridondanza × esclusione feature di forma, sul feature set 'neutral' (tutte le feature, non solo le stabili).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In tutte le combinazioni osservate: modularità significativamente più alta del nullo (p empirico ≈ 0.005, 0 grafi nulli su 200 raggiungono l'osservato).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Sottoprodotto: conteggio di quante specifiche confermano ogni nodo/arco — un indicatore di robustezza analogo ai voti della spec curve ML.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4"/>
          <p:cNvSpPr/>
          <p:nvPr/>
        </p:nvSpPr>
        <p:spPr>
          <a:xfrm>
            <a:off x="7406640" y="1600200"/>
            <a:ext cx="4205880" cy="4663080"/>
          </a:xfrm>
          <a:prstGeom prst="roundRect">
            <a:avLst>
              <a:gd name="adj" fmla="val 1739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5"/>
          <p:cNvSpPr/>
          <p:nvPr/>
        </p:nvSpPr>
        <p:spPr>
          <a:xfrm>
            <a:off x="9189720" y="342900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6"/>
          <p:cNvSpPr/>
          <p:nvPr/>
        </p:nvSpPr>
        <p:spPr>
          <a:xfrm>
            <a:off x="9390960" y="352944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7"/>
          <p:cNvSpPr/>
          <p:nvPr/>
        </p:nvSpPr>
        <p:spPr>
          <a:xfrm>
            <a:off x="7680960" y="39502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8"/>
          <p:cNvSpPr/>
          <p:nvPr/>
        </p:nvSpPr>
        <p:spPr>
          <a:xfrm>
            <a:off x="7680960" y="431604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network_spec_curve.png · node_votes_across_specs.csv (top 15) · edge_votes_across_specs.csv (top 15)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2 · NETWORK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ML e rete raccontano la stessa storia?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3"/>
          <p:cNvSpPr/>
          <p:nvPr/>
        </p:nvSpPr>
        <p:spPr>
          <a:xfrm>
            <a:off x="548640" y="1600200"/>
            <a:ext cx="6309000" cy="48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ml_network_bridge.py confronta, sulle 35 feature stabili, l'importanza ML (stability selection, SHAP, consensus) con la centralità di rete (grado, betweenness, eigenvector) — 12 test, correzione FDR.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Risultato robusto: betweenness ↔ stability_selection_freq, ρ = −0.576, q = 0.0036 (unified) — l'unica combinazione che regge in entrambe le modalità FDR.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Interpretazione: le feature più selezionate dal modello ML tendono ad avere bassa betweenness → sono centrali nel proprio dominio, non 'ponti' tra radiomica e genomica.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Controllo di robustezza: il risultato non dipende da un singolo outlier (TPI1) — ρ quasi invariato togliendolo (0.326 → 0.306 su un confronto correlato).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4"/>
          <p:cNvSpPr/>
          <p:nvPr/>
        </p:nvSpPr>
        <p:spPr>
          <a:xfrm>
            <a:off x="7406640" y="1600200"/>
            <a:ext cx="4205880" cy="4663080"/>
          </a:xfrm>
          <a:prstGeom prst="roundRect">
            <a:avLst>
              <a:gd name="adj" fmla="val 1739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5"/>
          <p:cNvSpPr/>
          <p:nvPr/>
        </p:nvSpPr>
        <p:spPr>
          <a:xfrm>
            <a:off x="9189720" y="342900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6"/>
          <p:cNvSpPr/>
          <p:nvPr/>
        </p:nvSpPr>
        <p:spPr>
          <a:xfrm>
            <a:off x="9390960" y="352944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7680960" y="39502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7680960" y="431604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plot_importance_vs_centrality.png · plot_top_significant_pairs.png (betweenness × stability_selection_freq)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PARTE 2 · NETWORK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Radiomica ↔ genomica: un'associazione multivariata reale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3"/>
          <p:cNvSpPr/>
          <p:nvPr/>
        </p:nvSpPr>
        <p:spPr>
          <a:xfrm>
            <a:off x="548640" y="1645920"/>
            <a:ext cx="2468520" cy="127980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640080" y="1755720"/>
            <a:ext cx="2285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850"/>
                </a:solidFill>
                <a:latin typeface="Cambria"/>
                <a:ea typeface="Cambria"/>
              </a:rPr>
              <a:t>4 / 300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5"/>
          <p:cNvSpPr/>
          <p:nvPr/>
        </p:nvSpPr>
        <p:spPr>
          <a:xfrm>
            <a:off x="658440" y="2388240"/>
            <a:ext cx="22489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coppie rad-gen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significative (q&lt;0.05)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6"/>
          <p:cNvSpPr/>
          <p:nvPr/>
        </p:nvSpPr>
        <p:spPr>
          <a:xfrm>
            <a:off x="3200400" y="1645920"/>
            <a:ext cx="2468520" cy="127980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3291840" y="1755720"/>
            <a:ext cx="2285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7496d"/>
                </a:solidFill>
                <a:latin typeface="Cambria"/>
                <a:ea typeface="Cambria"/>
              </a:rPr>
              <a:t>0.130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3310200" y="2388240"/>
            <a:ext cx="22489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coefficiente RV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osservato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9"/>
          <p:cNvSpPr/>
          <p:nvPr/>
        </p:nvSpPr>
        <p:spPr>
          <a:xfrm>
            <a:off x="5852160" y="1645920"/>
            <a:ext cx="2468520" cy="127980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492a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10"/>
          <p:cNvSpPr/>
          <p:nvPr/>
        </p:nvSpPr>
        <p:spPr>
          <a:xfrm>
            <a:off x="5943600" y="1755720"/>
            <a:ext cx="2285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e7d5b"/>
                </a:solidFill>
                <a:latin typeface="Cambria"/>
                <a:ea typeface="Cambria"/>
              </a:rPr>
              <a:t>p = 0.036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5961960" y="2388240"/>
            <a:ext cx="22489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vs nullo 0.037±0.041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(5000 permutazioni)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548640" y="3246120"/>
            <a:ext cx="630900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Tutte e 4 le coppie pairwise significative coinvolgono TPI1 (JointEntropy, SmallDependenceLowGrayLevelEmphasis, LargeDependenceEmphasis, shape_MeshVolume).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alibri"/>
              </a:rPr>
              <a:t>Test globale (coefficiente RV + permutazione dell'abbinamento paziente-gene): associazione multivariata significativa tra il blocco radiomico e quello genomico, indipendente dalla label ADK/SCC.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3"/>
          <p:cNvSpPr/>
          <p:nvPr/>
        </p:nvSpPr>
        <p:spPr>
          <a:xfrm>
            <a:off x="7452360" y="3246120"/>
            <a:ext cx="4160160" cy="3017160"/>
          </a:xfrm>
          <a:prstGeom prst="roundRect">
            <a:avLst>
              <a:gd name="adj" fmla="val 2424"/>
            </a:avLst>
          </a:prstGeom>
          <a:solidFill>
            <a:srgbClr val="fafbfc"/>
          </a:solidFill>
          <a:ln w="15875">
            <a:solidFill>
              <a:srgbClr val="aeb8c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4"/>
          <p:cNvSpPr/>
          <p:nvPr/>
        </p:nvSpPr>
        <p:spPr>
          <a:xfrm>
            <a:off x="9212760" y="4251960"/>
            <a:ext cx="639720" cy="456840"/>
          </a:xfrm>
          <a:prstGeom prst="roundRect">
            <a:avLst>
              <a:gd name="adj" fmla="val 12000"/>
            </a:avLst>
          </a:prstGeom>
          <a:solidFill>
            <a:srgbClr val="dc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5"/>
          <p:cNvSpPr/>
          <p:nvPr/>
        </p:nvSpPr>
        <p:spPr>
          <a:xfrm>
            <a:off x="9413640" y="4352400"/>
            <a:ext cx="237240" cy="237240"/>
          </a:xfrm>
          <a:prstGeom prst="ellipse">
            <a:avLst/>
          </a:prstGeom>
          <a:solidFill>
            <a:srgbClr val="fafbfc"/>
          </a:solidFill>
          <a:ln w="19050">
            <a:solidFill>
              <a:srgbClr val="aeb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6"/>
          <p:cNvSpPr/>
          <p:nvPr/>
        </p:nvSpPr>
        <p:spPr>
          <a:xfrm>
            <a:off x="7726680" y="477324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PLACEHOLDER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7"/>
          <p:cNvSpPr/>
          <p:nvPr/>
        </p:nvSpPr>
        <p:spPr>
          <a:xfrm>
            <a:off x="7726680" y="5139000"/>
            <a:ext cx="3611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a93a0"/>
                </a:solidFill>
                <a:latin typeface="Calibri"/>
                <a:ea typeface="Calibri"/>
              </a:rPr>
              <a:t>correlation_heatmap.png · rv_permutation_test.png (radiogenomics.py)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20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1"/>
          <p:cNvSpPr/>
          <p:nvPr/>
        </p:nvSpPr>
        <p:spPr>
          <a:xfrm>
            <a:off x="9326880" y="-1645920"/>
            <a:ext cx="4114440" cy="4114440"/>
          </a:xfrm>
          <a:prstGeom prst="ellipse">
            <a:avLst/>
          </a:prstGeom>
          <a:solidFill>
            <a:srgbClr val="27496d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2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9fd8e8"/>
                </a:solidFill>
                <a:latin typeface="Calibri"/>
                <a:ea typeface="Calibri"/>
              </a:rPr>
              <a:t>CONVERGENZA TRA I TRE APPROCCI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548640" y="7772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Cambria"/>
                <a:ea typeface="Cambria"/>
              </a:rPr>
              <a:t>Tre metodi indipendenti, un solo segnale: TPI1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4"/>
          <p:cNvSpPr/>
          <p:nvPr/>
        </p:nvSpPr>
        <p:spPr>
          <a:xfrm>
            <a:off x="548640" y="1965960"/>
            <a:ext cx="3382920" cy="3200040"/>
          </a:xfrm>
          <a:prstGeom prst="roundRect">
            <a:avLst>
              <a:gd name="adj" fmla="val 2286"/>
            </a:avLst>
          </a:prstGeom>
          <a:solidFill>
            <a:srgbClr val="1f3a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777240" y="214884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d98e04"/>
                </a:solidFill>
                <a:latin typeface="Cambria"/>
                <a:ea typeface="Cambria"/>
              </a:rPr>
              <a:t>Lavoro pregresso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777240" y="2697480"/>
            <a:ext cx="2925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4ee"/>
                </a:solidFill>
                <a:latin typeface="Calibri"/>
                <a:ea typeface="Calibri"/>
              </a:rPr>
              <a:t>Unico segnale ricorrente nella CT in vivo — ma solo dopo forte prefiltraggio dei geni (top 5% IQR).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7"/>
          <p:cNvSpPr/>
          <p:nvPr/>
        </p:nvSpPr>
        <p:spPr>
          <a:xfrm>
            <a:off x="4160520" y="1965960"/>
            <a:ext cx="3382920" cy="3200040"/>
          </a:xfrm>
          <a:prstGeom prst="roundRect">
            <a:avLst>
              <a:gd name="adj" fmla="val 2286"/>
            </a:avLst>
          </a:prstGeom>
          <a:solidFill>
            <a:srgbClr val="1f3a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8"/>
          <p:cNvSpPr/>
          <p:nvPr/>
        </p:nvSpPr>
        <p:spPr>
          <a:xfrm>
            <a:off x="4389120" y="214884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d98e04"/>
                </a:solidFill>
                <a:latin typeface="Cambria"/>
                <a:ea typeface="Cambria"/>
              </a:rPr>
              <a:t>Il mio ML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4389120" y="2697480"/>
            <a:ext cx="2925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4ee"/>
                </a:solidFill>
                <a:latin typeface="Calibri"/>
                <a:ea typeface="Calibri"/>
              </a:rPr>
              <a:t>Presente nel feature consensus (2/3 criteri: stability selection + spec curve).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10"/>
          <p:cNvSpPr/>
          <p:nvPr/>
        </p:nvSpPr>
        <p:spPr>
          <a:xfrm>
            <a:off x="7772400" y="1965960"/>
            <a:ext cx="3382920" cy="3200040"/>
          </a:xfrm>
          <a:prstGeom prst="roundRect">
            <a:avLst>
              <a:gd name="adj" fmla="val 2286"/>
            </a:avLst>
          </a:prstGeom>
          <a:solidFill>
            <a:srgbClr val="1f3a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11"/>
          <p:cNvSpPr/>
          <p:nvPr/>
        </p:nvSpPr>
        <p:spPr>
          <a:xfrm>
            <a:off x="8001000" y="214884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d98e04"/>
                </a:solidFill>
                <a:latin typeface="Cambria"/>
                <a:ea typeface="Cambria"/>
              </a:rPr>
              <a:t>La mia rete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12"/>
          <p:cNvSpPr/>
          <p:nvPr/>
        </p:nvSpPr>
        <p:spPr>
          <a:xfrm>
            <a:off x="8001000" y="2697480"/>
            <a:ext cx="2925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4ee"/>
                </a:solidFill>
                <a:latin typeface="Calibri"/>
                <a:ea typeface="Calibri"/>
              </a:rPr>
              <a:t>Hub principale del grafo (grado pesato più alto) e unico gene con correlazioni rad-gen FDR-significative.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3"/>
          <p:cNvSpPr/>
          <p:nvPr/>
        </p:nvSpPr>
        <p:spPr>
          <a:xfrm>
            <a:off x="548640" y="5440680"/>
            <a:ext cx="10698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9d8e4"/>
                </a:solidFill>
                <a:latin typeface="Calibri"/>
                <a:ea typeface="Calibri"/>
              </a:rPr>
              <a:t>Tre metodologie diverse (statistica univariata, machine learning, network analysis), applicate a sotto-campioni/pipeline diversi, convergono sullo stesso gene: un indizio di plausibilità biologica più forte di quanto ciascun metodo darebbe da solo.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DA TENERE PRESENTE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Limiti dello studio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3"/>
          <p:cNvSpPr/>
          <p:nvPr/>
        </p:nvSpPr>
        <p:spPr>
          <a:xfrm>
            <a:off x="548640" y="1600200"/>
            <a:ext cx="10698120" cy="48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Calibri"/>
              </a:rPr>
              <a:t>Campione piccolo (n=54): potenza statistica limitata ovunque, intervalli di confidenza ampi su AUC e differenze tra sorgenti dati.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Calibri"/>
              </a:rPr>
              <a:t>Nessuna colonna di batch tecnico disponibile: il controllo su possibili artefatti (giorno di scansione, run di sequenziamento) è rimasto solo visivo (PCA per fenotipo).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Calibri"/>
              </a:rPr>
              <a:t>La riduzione per ridondanza sceglie un rappresentante per gruppo di feature correlate: quel rappresentante può cambiare tra specifiche, un limite ereditato dai conteggi di robustezza (feature_votes, node_votes).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Calibri"/>
              </a:rPr>
              <a:t>Il test di significatività sul consensus (consensus_significance.py) usa solo 50 permutazioni per motivi di costo computazionale: risoluzione minima del p-value ≈ 0.02.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Calibri"/>
              </a:rPr>
              <a:t>Nessuna validazione esterna: tutti i risultati provengono da un unico dataset/centro.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1154880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22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c7b93"/>
                </a:solidFill>
                <a:latin typeface="Calibri"/>
                <a:ea typeface="Calibri"/>
              </a:rPr>
              <a:t>SINTESI FINALE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2"/>
          <p:cNvSpPr/>
          <p:nvPr/>
        </p:nvSpPr>
        <p:spPr>
          <a:xfrm>
            <a:off x="548640" y="6584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850"/>
                </a:solidFill>
                <a:latin typeface="Cambria"/>
                <a:ea typeface="Cambria"/>
              </a:rPr>
              <a:t>Conclusioni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3"/>
          <p:cNvSpPr/>
          <p:nvPr/>
        </p:nvSpPr>
        <p:spPr>
          <a:xfrm>
            <a:off x="548640" y="1600200"/>
            <a:ext cx="5257440" cy="3748680"/>
          </a:xfrm>
          <a:prstGeom prst="roundRect">
            <a:avLst>
              <a:gd name="adj" fmla="val 1951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822960" y="17830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42850"/>
                </a:solidFill>
                <a:latin typeface="Cambria"/>
                <a:ea typeface="Cambria"/>
              </a:rPr>
              <a:t>Machine Learning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822960" y="2331720"/>
            <a:ext cx="470880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Il segnale predittivo è reale, non rumore (test di permutazione, p=0.005).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La radiomica non migliora significativamente la predittività rispetto alla sola genomica, con n=54.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Poche feature emergono con consenso forte su tutti e 3 i criteri (NECTIN1, CD44, S100A8, HIF1A, EPCAM, COL17A1).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6"/>
          <p:cNvSpPr/>
          <p:nvPr/>
        </p:nvSpPr>
        <p:spPr>
          <a:xfrm>
            <a:off x="6035040" y="1600200"/>
            <a:ext cx="5257440" cy="3748680"/>
          </a:xfrm>
          <a:prstGeom prst="roundRect">
            <a:avLst>
              <a:gd name="adj" fmla="val 1951"/>
            </a:avLst>
          </a:prstGeom>
          <a:solidFill>
            <a:srgbClr val="f1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6309360" y="17830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42850"/>
                </a:solidFill>
                <a:latin typeface="Cambria"/>
                <a:ea typeface="Cambria"/>
              </a:rPr>
              <a:t>Network Analysis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8"/>
          <p:cNvSpPr/>
          <p:nvPr/>
        </p:nvSpPr>
        <p:spPr>
          <a:xfrm>
            <a:off x="6309360" y="2331720"/>
            <a:ext cx="470880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La struttura a community è statisticamente significativa, non casuale (p=0.002 vs modello nullo).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Robusta a bootstrap, jackknife e a 12 varianti di preprocessing.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Calibri"/>
              </a:rPr>
              <a:t>Radiomica e genomica restano domini ben separati (assortatività 0.66), ma con ponti specifici e significativi (4 coppie rad-gen, RV p=0.036).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9"/>
          <p:cNvSpPr/>
          <p:nvPr/>
        </p:nvSpPr>
        <p:spPr>
          <a:xfrm>
            <a:off x="548640" y="5532120"/>
            <a:ext cx="10698120" cy="868320"/>
          </a:xfrm>
          <a:prstGeom prst="roundRect">
            <a:avLst>
              <a:gd name="adj" fmla="val 8421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10"/>
          <p:cNvSpPr/>
          <p:nvPr/>
        </p:nvSpPr>
        <p:spPr>
          <a:xfrm>
            <a:off x="822960" y="5623560"/>
            <a:ext cx="10149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d7e4ee"/>
                </a:solidFill>
                <a:latin typeface="Calibri"/>
                <a:ea typeface="Calibri"/>
              </a:rPr>
              <a:t>La convergenza indipendente di ML e network analysis sulle stesse feature (TPI1, PKM, A2M, NECTIN1...) rafforza la plausibilità biologica dei risultati, pur nei limiti di un campione di 54 pazienti.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2026-08-31T11:36:30Z</dcterms:created>
  <dc:creator>PptxGenJS</dc:creator>
  <dc:description/>
  <dc:language>en-US</dc:language>
  <cp:lastModifiedBy/>
  <dcterms:modified xsi:type="dcterms:W3CDTF">2026-08-31T14:26:08Z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